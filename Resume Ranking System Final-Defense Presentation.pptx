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embedTrueTypeFonts="1" saveSubsetFonts="1" autoCompressPictures="0">
  <p:sldMasterIdLst>
    <p:sldMasterId id="2147483659" r:id="rId1"/>
  </p:sldMasterIdLst>
  <p:notesMasterIdLst>
    <p:notesMasterId r:id="rId21"/>
  </p:notesMasterIdLst>
  <p:handoutMasterIdLst>
    <p:handoutMasterId r:id="rId22"/>
  </p:handout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82" r:id="rId9"/>
    <p:sldId id="270" r:id="rId10"/>
    <p:sldId id="271" r:id="rId11"/>
    <p:sldId id="272" r:id="rId12"/>
    <p:sldId id="273" r:id="rId13"/>
    <p:sldId id="274" r:id="rId14"/>
    <p:sldId id="276" r:id="rId15"/>
    <p:sldId id="277" r:id="rId16"/>
    <p:sldId id="278" r:id="rId17"/>
    <p:sldId id="279" r:id="rId18"/>
    <p:sldId id="280" r:id="rId19"/>
    <p:sldId id="281" r:id="rId20"/>
  </p:sldIdLst>
  <p:sldSz cx="12192000" cy="6858000"/>
  <p:notesSz cx="6858000" cy="9144000"/>
  <p:embeddedFontLs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Cambria Math" panose="02040503050406030204" pitchFamily="18" charset="0"/>
      <p:regular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A4834B7-9322-4F45-9DA6-31982BE915A5}">
  <a:tblStyle styleId="{1A4834B7-9322-4F45-9DA6-31982BE915A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304"/>
    <p:restoredTop sz="94637"/>
  </p:normalViewPr>
  <p:slideViewPr>
    <p:cSldViewPr snapToGrid="0">
      <p:cViewPr varScale="1">
        <p:scale>
          <a:sx n="99" d="100"/>
          <a:sy n="99" d="100"/>
        </p:scale>
        <p:origin x="208" y="3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</p:sldLst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font" Target="fonts/font5.fntdata"/><Relationship Id="rId30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9.xml"/><Relationship Id="rId13" Type="http://schemas.openxmlformats.org/officeDocument/2006/relationships/slide" Target="slides/slide14.xml"/><Relationship Id="rId18" Type="http://schemas.openxmlformats.org/officeDocument/2006/relationships/slide" Target="slides/slide19.xml"/><Relationship Id="rId3" Type="http://schemas.openxmlformats.org/officeDocument/2006/relationships/slide" Target="slides/slide3.xml"/><Relationship Id="rId7" Type="http://schemas.openxmlformats.org/officeDocument/2006/relationships/slide" Target="slides/slide7.xml"/><Relationship Id="rId12" Type="http://schemas.openxmlformats.org/officeDocument/2006/relationships/slide" Target="slides/slide13.xml"/><Relationship Id="rId17" Type="http://schemas.openxmlformats.org/officeDocument/2006/relationships/slide" Target="slides/slide18.xml"/><Relationship Id="rId2" Type="http://schemas.openxmlformats.org/officeDocument/2006/relationships/slide" Target="slides/slide2.xml"/><Relationship Id="rId16" Type="http://schemas.openxmlformats.org/officeDocument/2006/relationships/slide" Target="slides/slide17.xml"/><Relationship Id="rId1" Type="http://schemas.openxmlformats.org/officeDocument/2006/relationships/slide" Target="slides/slide1.xml"/><Relationship Id="rId6" Type="http://schemas.openxmlformats.org/officeDocument/2006/relationships/slide" Target="slides/slide6.xml"/><Relationship Id="rId11" Type="http://schemas.openxmlformats.org/officeDocument/2006/relationships/slide" Target="slides/slide12.xml"/><Relationship Id="rId5" Type="http://schemas.openxmlformats.org/officeDocument/2006/relationships/slide" Target="slides/slide5.xml"/><Relationship Id="rId15" Type="http://schemas.openxmlformats.org/officeDocument/2006/relationships/slide" Target="slides/slide16.xml"/><Relationship Id="rId10" Type="http://schemas.openxmlformats.org/officeDocument/2006/relationships/slide" Target="slides/slide11.xml"/><Relationship Id="rId4" Type="http://schemas.openxmlformats.org/officeDocument/2006/relationships/slide" Target="slides/slide4.xml"/><Relationship Id="rId9" Type="http://schemas.openxmlformats.org/officeDocument/2006/relationships/slide" Target="slides/slide10.xml"/><Relationship Id="rId14" Type="http://schemas.openxmlformats.org/officeDocument/2006/relationships/slide" Target="slides/slide1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D58958-166A-07E9-FBEF-14299B987A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CA5E1B-1B61-4ECE-91A5-EAE0714735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B386AC-320B-A342-A016-3E17604DA0E2}" type="datetimeFigureOut">
              <a:rPr lang="en-NP" smtClean="0"/>
              <a:t>12/08/2026</a:t>
            </a:fld>
            <a:endParaRPr lang="en-N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C00194-AFA6-3ABB-286C-4349D7A224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5A41D0-CD6B-4007-897C-7DDE91F44B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1FA17F-2312-CC41-ACA3-4518675E63BC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8930730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gcfhdsgcdjvsc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716096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fcfgcgfchgvgnvkhmn</a:t>
            </a:r>
            <a:endParaRPr dirty="0"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6292637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8363731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7413130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5568107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8971754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9122046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2206018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6286574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42488486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27519030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696216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/>
        </p:nvSpPr>
        <p:spPr>
          <a:xfrm>
            <a:off x="1186197" y="285775"/>
            <a:ext cx="9819600" cy="126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RESUME RANKING SYSTEM USING S-BERT</a:t>
            </a: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AND WORD2VEC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6770249" y="4066255"/>
            <a:ext cx="4150495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</a:br>
            <a:r>
              <a:rPr lang="en-US"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Department of Software and IT Engineering</a:t>
            </a:r>
            <a:br>
              <a:rPr lang="en-US"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</a:br>
            <a:r>
              <a:rPr lang="en-US"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Everest Engineering College</a:t>
            </a:r>
            <a:br>
              <a:rPr lang="en-US"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</a:br>
            <a:r>
              <a:rPr lang="en-US"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July, 2026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380997" y="3992444"/>
            <a:ext cx="4320600" cy="45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Submitted By: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380997" y="4506794"/>
            <a:ext cx="43206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Alisha Singh            [23120161]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80997" y="4925894"/>
            <a:ext cx="43206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Prabin Rimal           [23120177]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1002536" y="5344994"/>
            <a:ext cx="3117772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Puja Regmi             [23120180]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380997" y="5759167"/>
            <a:ext cx="43206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Shuvam Khadka      [23120195]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EF0A47-5784-E7C2-9D83-E1EDC2C981C0}"/>
              </a:ext>
            </a:extLst>
          </p:cNvPr>
          <p:cNvPicPr>
            <a:picLocks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74903" y="2280900"/>
            <a:ext cx="1461600" cy="146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4DB51A6-5AF6-C97B-4ACE-7DAFC697A004}"/>
              </a:ext>
            </a:extLst>
          </p:cNvPr>
          <p:cNvSpPr txBox="1"/>
          <p:nvPr/>
        </p:nvSpPr>
        <p:spPr>
          <a:xfrm>
            <a:off x="3869352" y="1619931"/>
            <a:ext cx="44532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 Minor Project Presentation</a:t>
            </a:r>
            <a:endParaRPr lang="en-NP" sz="2400" dirty="0">
              <a:solidFill>
                <a:schemeClr val="tx1"/>
              </a:solidFill>
            </a:endParaRPr>
          </a:p>
        </p:txBody>
      </p:sp>
      <p:sp>
        <p:nvSpPr>
          <p:cNvPr id="5" name="Google Shape;94;p13">
            <a:extLst>
              <a:ext uri="{FF2B5EF4-FFF2-40B4-BE49-F238E27FC236}">
                <a16:creationId xmlns:a16="http://schemas.microsoft.com/office/drawing/2014/main" id="{D38F344E-E1C1-1A95-030A-3DB61678B6B4}"/>
              </a:ext>
            </a:extLst>
          </p:cNvPr>
          <p:cNvSpPr txBox="1"/>
          <p:nvPr/>
        </p:nvSpPr>
        <p:spPr>
          <a:xfrm>
            <a:off x="6685197" y="3992444"/>
            <a:ext cx="4320600" cy="45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Submitted To: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56A8FE2-B21F-EDD4-D6EA-C5285A50C537}"/>
              </a:ext>
            </a:extLst>
          </p:cNvPr>
          <p:cNvSpPr/>
          <p:nvPr/>
        </p:nvSpPr>
        <p:spPr>
          <a:xfrm>
            <a:off x="555172" y="185059"/>
            <a:ext cx="11081657" cy="653142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NP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0394BCE-3823-F3B3-A47F-AB2DCFFA7D50}"/>
              </a:ext>
            </a:extLst>
          </p:cNvPr>
          <p:cNvSpPr/>
          <p:nvPr/>
        </p:nvSpPr>
        <p:spPr>
          <a:xfrm>
            <a:off x="0" y="141516"/>
            <a:ext cx="12192000" cy="65314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NP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8690051-016E-FA58-3813-C383FC66EAA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503229" y="6351359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093C4F-E1AC-B0D3-6D5D-2F275B12234D}"/>
              </a:ext>
            </a:extLst>
          </p:cNvPr>
          <p:cNvSpPr txBox="1"/>
          <p:nvPr/>
        </p:nvSpPr>
        <p:spPr>
          <a:xfrm>
            <a:off x="323850" y="789217"/>
            <a:ext cx="5974080" cy="5457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NP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1: Introduction					2</a:t>
            </a:r>
          </a:p>
          <a:p>
            <a:pPr>
              <a:lnSpc>
                <a:spcPct val="150000"/>
              </a:lnSpc>
            </a:pPr>
            <a:r>
              <a:rPr lang="en-NP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1.1 Background				2</a:t>
            </a:r>
          </a:p>
          <a:p>
            <a:pPr>
              <a:lnSpc>
                <a:spcPct val="150000"/>
              </a:lnSpc>
            </a:pPr>
            <a:r>
              <a:rPr lang="en-NP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1.2 Problem Statement				3</a:t>
            </a:r>
          </a:p>
          <a:p>
            <a:pPr>
              <a:lnSpc>
                <a:spcPct val="150000"/>
              </a:lnSpc>
            </a:pPr>
            <a:r>
              <a:rPr lang="en-NP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1.3 Objective, Scope and Applications			4</a:t>
            </a:r>
          </a:p>
          <a:p>
            <a:pPr>
              <a:lnSpc>
                <a:spcPct val="150000"/>
              </a:lnSpc>
            </a:pPr>
            <a:r>
              <a:rPr lang="en-NP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2: Literature Review				5</a:t>
            </a:r>
          </a:p>
          <a:p>
            <a:pPr>
              <a:lnSpc>
                <a:spcPct val="150000"/>
              </a:lnSpc>
            </a:pPr>
            <a:r>
              <a:rPr lang="en-NP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3: Methodology					6</a:t>
            </a:r>
          </a:p>
          <a:p>
            <a:pPr>
              <a:lnSpc>
                <a:spcPct val="150000"/>
              </a:lnSpc>
            </a:pPr>
            <a:r>
              <a:rPr lang="en-NP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3.1 Prediction System Design			6</a:t>
            </a:r>
          </a:p>
          <a:p>
            <a:pPr>
              <a:lnSpc>
                <a:spcPct val="150000"/>
              </a:lnSpc>
            </a:pPr>
            <a:r>
              <a:rPr lang="en-NP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3.2 Workflow Design	 			7</a:t>
            </a:r>
          </a:p>
          <a:p>
            <a:pPr>
              <a:lnSpc>
                <a:spcPct val="150000"/>
              </a:lnSpc>
            </a:pPr>
            <a:r>
              <a:rPr lang="en-NP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3.3 Data Collection				8</a:t>
            </a:r>
          </a:p>
          <a:p>
            <a:pPr>
              <a:lnSpc>
                <a:spcPct val="150000"/>
              </a:lnSpc>
            </a:pPr>
            <a:r>
              <a:rPr lang="en-NP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3.4 Data Preprocessing				9</a:t>
            </a:r>
          </a:p>
          <a:p>
            <a:pPr>
              <a:lnSpc>
                <a:spcPct val="150000"/>
              </a:lnSpc>
            </a:pPr>
            <a:r>
              <a:rPr lang="en-NP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3.5 Feature Engineering				10</a:t>
            </a:r>
          </a:p>
          <a:p>
            <a:pPr>
              <a:lnSpc>
                <a:spcPct val="150000"/>
              </a:lnSpc>
            </a:pPr>
            <a:r>
              <a:rPr lang="en-NP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3.6 Similarity Calculation and Ensemble Scoring		12</a:t>
            </a:r>
          </a:p>
          <a:p>
            <a:pPr>
              <a:lnSpc>
                <a:spcPct val="150000"/>
              </a:lnSpc>
            </a:pPr>
            <a:r>
              <a:rPr lang="en-NP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4: Result and Analysis				13</a:t>
            </a:r>
          </a:p>
          <a:p>
            <a:pPr>
              <a:lnSpc>
                <a:spcPct val="150000"/>
              </a:lnSpc>
            </a:pPr>
            <a:r>
              <a:rPr lang="en-NP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4.1 Evaluation Setup				13</a:t>
            </a:r>
          </a:p>
          <a:p>
            <a:pPr>
              <a:lnSpc>
                <a:spcPct val="150000"/>
              </a:lnSpc>
            </a:pPr>
            <a:r>
              <a:rPr lang="en-NP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4.2 Retrieval Performance Comparison			14</a:t>
            </a:r>
          </a:p>
          <a:p>
            <a:pPr>
              <a:lnSpc>
                <a:spcPct val="150000"/>
              </a:lnSpc>
            </a:pPr>
            <a:r>
              <a:rPr lang="en-NP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4.3 Similarity Score Comparison			15</a:t>
            </a:r>
          </a:p>
          <a:p>
            <a:pPr>
              <a:lnSpc>
                <a:spcPct val="150000"/>
              </a:lnSpc>
            </a:pPr>
            <a:r>
              <a:rPr lang="en-NP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4.4 Technical Analysis and Interpretation			16</a:t>
            </a:r>
          </a:p>
          <a:p>
            <a:pPr>
              <a:lnSpc>
                <a:spcPct val="150000"/>
              </a:lnSpc>
            </a:pPr>
            <a:r>
              <a:rPr lang="en-NP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5: Conclusion and Future Work     			17</a:t>
            </a:r>
          </a:p>
        </p:txBody>
      </p:sp>
    </p:spTree>
    <p:extLst>
      <p:ext uri="{BB962C8B-B14F-4D97-AF65-F5344CB8AC3E}">
        <p14:creationId xmlns:p14="http://schemas.microsoft.com/office/powerpoint/2010/main" val="3671966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4DBCEC7-5126-6311-438D-32B753581EC9}"/>
              </a:ext>
            </a:extLst>
          </p:cNvPr>
          <p:cNvSpPr/>
          <p:nvPr/>
        </p:nvSpPr>
        <p:spPr>
          <a:xfrm>
            <a:off x="0" y="141516"/>
            <a:ext cx="12192000" cy="65314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NP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1: Introduction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3EFF31-1612-3CD5-AFEC-8C78CBB09399}"/>
              </a:ext>
            </a:extLst>
          </p:cNvPr>
          <p:cNvSpPr txBox="1"/>
          <p:nvPr/>
        </p:nvSpPr>
        <p:spPr>
          <a:xfrm>
            <a:off x="484413" y="1511369"/>
            <a:ext cx="8828315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 departments receive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hundreds of resumes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 posting, manual screening is time-consuming and biased.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Keyword-based ATS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 to capture semantic meaning and are vulnerable to keyword stuffing.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TF-IDF/KNN improved retrieval but lacked deep contextual understanding.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Word2Vec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introduced semantic word representations,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S-BERT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pre-computed sentence-level embeddings ideal for bulk ranking.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ensemble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both can offset individual model weaknesses.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087125-F0D6-B7CA-9DE5-9C33B46E2D3B}"/>
              </a:ext>
            </a:extLst>
          </p:cNvPr>
          <p:cNvSpPr txBox="1"/>
          <p:nvPr/>
        </p:nvSpPr>
        <p:spPr>
          <a:xfrm>
            <a:off x="250372" y="922181"/>
            <a:ext cx="2271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1.1 Background</a:t>
            </a:r>
          </a:p>
        </p:txBody>
      </p:sp>
      <p:sp>
        <p:nvSpPr>
          <p:cNvPr id="2" name="Slide Number Placeholder 11">
            <a:extLst>
              <a:ext uri="{FF2B5EF4-FFF2-40B4-BE49-F238E27FC236}">
                <a16:creationId xmlns:a16="http://schemas.microsoft.com/office/drawing/2014/main" id="{36DD0407-BB57-68AA-D926-4342F7E4497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503229" y="6351359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341EB3B6-F1B4-7A24-E16B-EFEF671DAFAF}"/>
              </a:ext>
            </a:extLst>
          </p:cNvPr>
          <p:cNvSpPr txBox="1"/>
          <p:nvPr/>
        </p:nvSpPr>
        <p:spPr>
          <a:xfrm>
            <a:off x="538843" y="2069648"/>
            <a:ext cx="8828315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screening is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prone to bias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Keyword-based ATS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model semantic meaning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poor candidate - job fit.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Relevant candidates are overlooked due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vocabulary mismatches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(e.g., “ML” vs. “Machine Learning”).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Single-model approaches (TF-IDF, Word2Vec, or BERT alone) each carry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distinct limitations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F3869C-60EB-F6C4-C10C-923B4BBBDC30}"/>
              </a:ext>
            </a:extLst>
          </p:cNvPr>
          <p:cNvSpPr/>
          <p:nvPr/>
        </p:nvSpPr>
        <p:spPr>
          <a:xfrm>
            <a:off x="489858" y="1590675"/>
            <a:ext cx="8926286" cy="4572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Shortcomings in Existing Approaches:</a:t>
            </a:r>
            <a:endParaRPr lang="en-NP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B5C26E-A1B4-9198-67BD-31CD2AAF0A67}"/>
              </a:ext>
            </a:extLst>
          </p:cNvPr>
          <p:cNvSpPr txBox="1"/>
          <p:nvPr/>
        </p:nvSpPr>
        <p:spPr>
          <a:xfrm>
            <a:off x="250372" y="922181"/>
            <a:ext cx="31838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1.2 Problem Statement</a:t>
            </a:r>
          </a:p>
        </p:txBody>
      </p:sp>
      <p:sp>
        <p:nvSpPr>
          <p:cNvPr id="2" name="Slide Number Placeholder 11">
            <a:extLst>
              <a:ext uri="{FF2B5EF4-FFF2-40B4-BE49-F238E27FC236}">
                <a16:creationId xmlns:a16="http://schemas.microsoft.com/office/drawing/2014/main" id="{27F9E430-BB64-F60E-9D61-DFC7388DB63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503229" y="6351359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2B13E3D-0446-0567-B8B7-6196DE6CAD2E}"/>
              </a:ext>
            </a:extLst>
          </p:cNvPr>
          <p:cNvSpPr txBox="1"/>
          <p:nvPr/>
        </p:nvSpPr>
        <p:spPr>
          <a:xfrm>
            <a:off x="614774" y="1184350"/>
            <a:ext cx="5785760" cy="197599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hybrid S-BERT plus Word2Vec resume ranking system using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ensemble score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high-precision candidate shortlisting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324AB8-35D7-0FC6-D97E-9DCEA9023426}"/>
              </a:ext>
            </a:extLst>
          </p:cNvPr>
          <p:cNvSpPr txBox="1"/>
          <p:nvPr/>
        </p:nvSpPr>
        <p:spPr>
          <a:xfrm>
            <a:off x="614773" y="3310985"/>
            <a:ext cx="5785761" cy="28993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1,429 PDF resumes across 23 domains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384-dim S-BERT embeddings(all-MiniLM-L6-v2)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150-dim Word2Vec averaged document vectors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Top-10 ranking per model via cosine similarity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Ensembled Score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B24520-7BC1-D7D4-3EE8-6AF2990185FE}"/>
              </a:ext>
            </a:extLst>
          </p:cNvPr>
          <p:cNvSpPr txBox="1"/>
          <p:nvPr/>
        </p:nvSpPr>
        <p:spPr>
          <a:xfrm>
            <a:off x="6563820" y="1184350"/>
            <a:ext cx="5246915" cy="474597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HR: automate high volume screening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Staffing agencies:  instant multi-domain matching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boards - semantic job recommendations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placement cells - rank student resumes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talent mobility in large corporations</a:t>
            </a:r>
          </a:p>
          <a:p>
            <a:pPr marL="342900" indent="-3429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BA916E-9FC6-9CBC-8CF5-424BFC1F0E5F}"/>
              </a:ext>
            </a:extLst>
          </p:cNvPr>
          <p:cNvSpPr txBox="1"/>
          <p:nvPr/>
        </p:nvSpPr>
        <p:spPr>
          <a:xfrm>
            <a:off x="239221" y="509585"/>
            <a:ext cx="51427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1.3 Objective, Scope and Applications</a:t>
            </a:r>
          </a:p>
        </p:txBody>
      </p:sp>
      <p:sp>
        <p:nvSpPr>
          <p:cNvPr id="2" name="Slide Number Placeholder 11">
            <a:extLst>
              <a:ext uri="{FF2B5EF4-FFF2-40B4-BE49-F238E27FC236}">
                <a16:creationId xmlns:a16="http://schemas.microsoft.com/office/drawing/2014/main" id="{3EEDFB0B-90A0-3D96-3B25-0F8928FED22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503229" y="6351359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B365CAB-B6CB-BCEE-55C5-F8A3986DA1EF}"/>
              </a:ext>
            </a:extLst>
          </p:cNvPr>
          <p:cNvSpPr/>
          <p:nvPr/>
        </p:nvSpPr>
        <p:spPr>
          <a:xfrm>
            <a:off x="0" y="141515"/>
            <a:ext cx="12192000" cy="65314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NP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2: Literature Review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1BF1B2-C564-42B4-6DB1-6E0B6EB2EFD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452" t="226" r="-6452" b="226"/>
          <a:stretch/>
        </p:blipFill>
        <p:spPr>
          <a:xfrm>
            <a:off x="1017038" y="1112428"/>
            <a:ext cx="6696000" cy="5268062"/>
          </a:xfrm>
          <a:prstGeom prst="rect">
            <a:avLst/>
          </a:prstGeom>
        </p:spPr>
      </p:pic>
      <p:sp>
        <p:nvSpPr>
          <p:cNvPr id="6" name="Round Same Side Corner Rectangle 5">
            <a:extLst>
              <a:ext uri="{FF2B5EF4-FFF2-40B4-BE49-F238E27FC236}">
                <a16:creationId xmlns:a16="http://schemas.microsoft.com/office/drawing/2014/main" id="{D3D0291A-24C1-1EB9-4FD5-8DD4204EB80F}"/>
              </a:ext>
            </a:extLst>
          </p:cNvPr>
          <p:cNvSpPr/>
          <p:nvPr/>
        </p:nvSpPr>
        <p:spPr>
          <a:xfrm>
            <a:off x="8273143" y="1545771"/>
            <a:ext cx="3548743" cy="3494315"/>
          </a:xfrm>
          <a:prstGeom prst="round2Same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Gap:</a:t>
            </a:r>
          </a:p>
          <a:p>
            <a:pPr algn="just"/>
            <a:endParaRPr lang="en-US" sz="24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prior work provides a direct, controlled comparison of Word2Vec vs. S-BERT rankings on an identical corpus, or applies hybrid</a:t>
            </a:r>
          </a:p>
          <a:p>
            <a:pPr algn="just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ensemble scoring to semantic resume ranking.</a:t>
            </a:r>
            <a:endParaRPr lang="en-NP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1">
            <a:extLst>
              <a:ext uri="{FF2B5EF4-FFF2-40B4-BE49-F238E27FC236}">
                <a16:creationId xmlns:a16="http://schemas.microsoft.com/office/drawing/2014/main" id="{3C10EC7D-7A96-5A4F-A826-431A90DC0F6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503229" y="6351359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06EB40C-EB73-990D-CE34-1E4E5B1B11E5}"/>
              </a:ext>
            </a:extLst>
          </p:cNvPr>
          <p:cNvSpPr/>
          <p:nvPr/>
        </p:nvSpPr>
        <p:spPr>
          <a:xfrm>
            <a:off x="0" y="141515"/>
            <a:ext cx="12192000" cy="65314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NP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3: Methodology</a:t>
            </a:r>
          </a:p>
        </p:txBody>
      </p:sp>
      <p:sp>
        <p:nvSpPr>
          <p:cNvPr id="5" name="Slide Number Placeholder 11">
            <a:extLst>
              <a:ext uri="{FF2B5EF4-FFF2-40B4-BE49-F238E27FC236}">
                <a16:creationId xmlns:a16="http://schemas.microsoft.com/office/drawing/2014/main" id="{23BC5F33-7B06-A39D-41C7-A84C53162CD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503229" y="6351359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CA8495-78F9-CF98-FC66-8E5632D150CB}"/>
              </a:ext>
            </a:extLst>
          </p:cNvPr>
          <p:cNvSpPr txBox="1"/>
          <p:nvPr/>
        </p:nvSpPr>
        <p:spPr>
          <a:xfrm>
            <a:off x="4844949" y="6200973"/>
            <a:ext cx="2762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3.1: Prediction Process Flow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2C6FA5-39C3-AE81-39EC-62354E6AC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346" y="1350310"/>
            <a:ext cx="5905500" cy="4813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FF1776-77CC-2535-44C6-3473AC99C0CE}"/>
              </a:ext>
            </a:extLst>
          </p:cNvPr>
          <p:cNvSpPr txBox="1"/>
          <p:nvPr/>
        </p:nvSpPr>
        <p:spPr>
          <a:xfrm>
            <a:off x="250372" y="922181"/>
            <a:ext cx="39966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 Prediction System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78BEA10-8DA1-1DFF-190C-19D0576ABD68}"/>
              </a:ext>
            </a:extLst>
          </p:cNvPr>
          <p:cNvSpPr txBox="1"/>
          <p:nvPr/>
        </p:nvSpPr>
        <p:spPr>
          <a:xfrm>
            <a:off x="250372" y="922181"/>
            <a:ext cx="29466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3.2 Workflow Design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0F69CC-C72D-8A46-46EF-145147B0C9F6}"/>
              </a:ext>
            </a:extLst>
          </p:cNvPr>
          <p:cNvSpPr txBox="1"/>
          <p:nvPr/>
        </p:nvSpPr>
        <p:spPr>
          <a:xfrm>
            <a:off x="5355771" y="4887958"/>
            <a:ext cx="21194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3.2: Block Diagram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9C5A4AE-0E29-2776-77C1-857065F06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813" y="1662265"/>
            <a:ext cx="8578373" cy="2871730"/>
          </a:xfrm>
          <a:prstGeom prst="rect">
            <a:avLst/>
          </a:prstGeom>
        </p:spPr>
      </p:pic>
      <p:sp>
        <p:nvSpPr>
          <p:cNvPr id="18" name="Slide Number Placeholder 11">
            <a:extLst>
              <a:ext uri="{FF2B5EF4-FFF2-40B4-BE49-F238E27FC236}">
                <a16:creationId xmlns:a16="http://schemas.microsoft.com/office/drawing/2014/main" id="{E37C6558-D6A3-E3DC-7B83-CA88343A8A3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503229" y="6351359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277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A2A2AF6-1F5C-601C-5B68-A2DF309470C9}"/>
              </a:ext>
            </a:extLst>
          </p:cNvPr>
          <p:cNvSpPr txBox="1"/>
          <p:nvPr/>
        </p:nvSpPr>
        <p:spPr>
          <a:xfrm>
            <a:off x="484413" y="1511369"/>
            <a:ext cx="6068787" cy="234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populated with 1,429 resumes in PDF format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Google Dorking and Kaggle public dataset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 professional domains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 provided at inference time by HR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3C19AC-2093-51DA-C098-A580D6C7F138}"/>
              </a:ext>
            </a:extLst>
          </p:cNvPr>
          <p:cNvSpPr txBox="1"/>
          <p:nvPr/>
        </p:nvSpPr>
        <p:spPr>
          <a:xfrm>
            <a:off x="250372" y="922181"/>
            <a:ext cx="26885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 Data Collection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7BB906C-F110-F139-7403-E7AD17A20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6225" y="1563878"/>
            <a:ext cx="2801888" cy="45856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0A56BB6-7BB6-89A2-DBD9-5A929D1184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2237" y="1771072"/>
            <a:ext cx="2260100" cy="1657928"/>
          </a:xfrm>
          <a:prstGeom prst="rect">
            <a:avLst/>
          </a:prstGeom>
        </p:spPr>
      </p:pic>
      <p:sp>
        <p:nvSpPr>
          <p:cNvPr id="2" name="Slide Number Placeholder 11">
            <a:extLst>
              <a:ext uri="{FF2B5EF4-FFF2-40B4-BE49-F238E27FC236}">
                <a16:creationId xmlns:a16="http://schemas.microsoft.com/office/drawing/2014/main" id="{8C61D637-DCC6-1307-7B99-15633CD9835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503229" y="6351359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442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E5C9BA9D-87FC-51E3-A2B1-CFFBB42B7918}"/>
              </a:ext>
            </a:extLst>
          </p:cNvPr>
          <p:cNvSpPr txBox="1"/>
          <p:nvPr/>
        </p:nvSpPr>
        <p:spPr>
          <a:xfrm>
            <a:off x="4250484" y="1354528"/>
            <a:ext cx="7135587" cy="4745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Steps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Cleaning: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PII (email, phone, address), URLs, and named entities (spaCy NER) so identity does not influence ranking.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Explicit for Word2Vec, internal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wordpiece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tokenizer for S-BERT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Stopword Removal: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Retain only job-relevant terms.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Lemmatization: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Consolidate morphological variants (“Working”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“work”)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Strip residual noise, collapse whitespace.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5A7CA9-4336-BD0C-E669-0C74780B2075}"/>
              </a:ext>
            </a:extLst>
          </p:cNvPr>
          <p:cNvSpPr txBox="1"/>
          <p:nvPr/>
        </p:nvSpPr>
        <p:spPr>
          <a:xfrm>
            <a:off x="250372" y="922181"/>
            <a:ext cx="32015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3.4 Data Preprocessing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A6B8F28-B154-6FC1-D0A9-9F714F9A7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092" y="1383846"/>
            <a:ext cx="2996672" cy="4307044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E15BCB2-C3A4-8AA9-0786-B19F94294AAA}"/>
              </a:ext>
            </a:extLst>
          </p:cNvPr>
          <p:cNvSpPr txBox="1"/>
          <p:nvPr/>
        </p:nvSpPr>
        <p:spPr>
          <a:xfrm>
            <a:off x="789932" y="5690890"/>
            <a:ext cx="26581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3.3: Preprocessing Pipeline</a:t>
            </a:r>
          </a:p>
        </p:txBody>
      </p:sp>
      <p:sp>
        <p:nvSpPr>
          <p:cNvPr id="2" name="Slide Number Placeholder 11">
            <a:extLst>
              <a:ext uri="{FF2B5EF4-FFF2-40B4-BE49-F238E27FC236}">
                <a16:creationId xmlns:a16="http://schemas.microsoft.com/office/drawing/2014/main" id="{32F49B6F-5248-6620-74E2-9C5BB6ECF9C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503229" y="6351359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67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9ED53289-AA56-C868-0358-43A48BF20DCA}"/>
              </a:ext>
            </a:extLst>
          </p:cNvPr>
          <p:cNvSpPr txBox="1"/>
          <p:nvPr/>
        </p:nvSpPr>
        <p:spPr>
          <a:xfrm>
            <a:off x="484414" y="1511369"/>
            <a:ext cx="6473374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S-BERT Branch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transformer encoder layers, hidden dim =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384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 and Embeddings Generation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Sliding window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(200 words, stride 150) for long resumes (max 256 tokens)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pooling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token representations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document vector u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pre-computed &amp; stored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NumPy matrix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Inference-time cost = one matrix-vector multiply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0D57C1-B43E-F15F-DA9C-5C2F462557F7}"/>
              </a:ext>
            </a:extLst>
          </p:cNvPr>
          <p:cNvSpPr txBox="1"/>
          <p:nvPr/>
        </p:nvSpPr>
        <p:spPr>
          <a:xfrm>
            <a:off x="250372" y="922181"/>
            <a:ext cx="33538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3.5 Feature Engineering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D5E8AE-1B4B-E861-3BBE-336B7FE8AB51}"/>
              </a:ext>
            </a:extLst>
          </p:cNvPr>
          <p:cNvSpPr txBox="1"/>
          <p:nvPr/>
        </p:nvSpPr>
        <p:spPr>
          <a:xfrm>
            <a:off x="7956349" y="4981905"/>
            <a:ext cx="2576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3.4: S-BERT Architecture</a:t>
            </a:r>
          </a:p>
        </p:txBody>
      </p:sp>
      <p:sp>
        <p:nvSpPr>
          <p:cNvPr id="2" name="Slide Number Placeholder 11">
            <a:extLst>
              <a:ext uri="{FF2B5EF4-FFF2-40B4-BE49-F238E27FC236}">
                <a16:creationId xmlns:a16="http://schemas.microsoft.com/office/drawing/2014/main" id="{27A1033A-8624-DB95-42EB-0EDEEA2FF38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503229" y="6351359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75F1BB-9BF9-AC83-9F06-CA31C7C4D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7675" y="1511369"/>
            <a:ext cx="2853693" cy="3448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732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4CA74D8-7239-FB80-9FDF-DCA949D92499}"/>
                  </a:ext>
                </a:extLst>
              </p:cNvPr>
              <p:cNvSpPr txBox="1"/>
              <p:nvPr/>
            </p:nvSpPr>
            <p:spPr>
              <a:xfrm>
                <a:off x="412790" y="693215"/>
                <a:ext cx="5785758" cy="53446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2000" b="1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Word2Vec Branch</a:t>
                </a:r>
              </a:p>
              <a:p>
                <a:pPr marL="342900" indent="-342900" algn="just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Shallow 2-layer neural network,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150-dimensional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vectors</a:t>
                </a:r>
              </a:p>
              <a:p>
                <a:pPr marL="342900" indent="-342900" algn="just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Trained on the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same preprocessed corpus</a:t>
                </a:r>
              </a:p>
              <a:p>
                <a:pPr marL="342900" indent="-342900" algn="just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Skip-gram: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center word predicts surrounding context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itchFamily="2" charset="2"/>
                  </a:rPr>
                  <a:t>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better for rare terms</a:t>
                </a:r>
              </a:p>
              <a:p>
                <a:pPr marL="342900" indent="-342900" algn="just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Document vector =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average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constituent word vectors, 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𝒖</m:t>
                        </m:r>
                      </m:e>
                    </m:acc>
                    <m:r>
                      <a:rPr lang="en-US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sz="2000" b="0" i="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n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US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i</m:t>
                    </m:r>
                    <m:r>
                      <a:rPr lang="en-US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b="0" i="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                (3.1) 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Enables algebraic semantics: King - Man + Woman ≈ Queen </a:t>
                </a:r>
              </a:p>
              <a:p>
                <a:pPr marL="342900" indent="-342900" algn="just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Vectors stored as NumPy matrix for fast inference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4CA74D8-7239-FB80-9FDF-DCA949D92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790" y="693215"/>
                <a:ext cx="5785758" cy="5344605"/>
              </a:xfrm>
              <a:prstGeom prst="rect">
                <a:avLst/>
              </a:prstGeom>
              <a:blipFill>
                <a:blip r:embed="rId3"/>
                <a:stretch>
                  <a:fillRect l="-1094" r="-875" b="-1185"/>
                </a:stretch>
              </a:blipFill>
            </p:spPr>
            <p:txBody>
              <a:bodyPr/>
              <a:lstStyle/>
              <a:p>
                <a:r>
                  <a:rPr lang="en-NP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C945EF01-DE5A-C6D4-18DB-1DC647CDFF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9764" y="1066389"/>
            <a:ext cx="4663044" cy="280680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A036F5A-B428-0EA2-5536-92BDA0B89588}"/>
              </a:ext>
            </a:extLst>
          </p:cNvPr>
          <p:cNvSpPr txBox="1"/>
          <p:nvPr/>
        </p:nvSpPr>
        <p:spPr>
          <a:xfrm>
            <a:off x="7672198" y="3868299"/>
            <a:ext cx="27478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3.5: Word2Vec Architecture</a:t>
            </a:r>
          </a:p>
        </p:txBody>
      </p:sp>
      <p:sp>
        <p:nvSpPr>
          <p:cNvPr id="2" name="Slide Number Placeholder 11">
            <a:extLst>
              <a:ext uri="{FF2B5EF4-FFF2-40B4-BE49-F238E27FC236}">
                <a16:creationId xmlns:a16="http://schemas.microsoft.com/office/drawing/2014/main" id="{C852C3A2-7AD6-C92A-1CA1-3D4EB396825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503229" y="6351359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034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A3514FB-C012-B46E-35D2-083A2CA0CBA3}"/>
                  </a:ext>
                </a:extLst>
              </p:cNvPr>
              <p:cNvSpPr txBox="1"/>
              <p:nvPr/>
            </p:nvSpPr>
            <p:spPr>
              <a:xfrm>
                <a:off x="484414" y="1653097"/>
                <a:ext cx="4265716" cy="3551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Cosine Similarity:</a:t>
                </a: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eqArr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𝑠𝑖𝑚</m:t>
                          </m:r>
                          <m:d>
                            <m:d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𝐽𝐷</m:t>
                                  </m:r>
                                </m:sub>
                              </m:s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𝑅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𝐽𝐷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d>
                                <m:dPr>
                                  <m:ctrlPr>
                                    <a:rPr lang="en-US" sz="20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 dirty="0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𝐽𝐷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𝐽𝐷</m:t>
                                  </m:r>
                                </m:sub>
                              </m:s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b="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𝑅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##(3.2)</m:t>
                          </m:r>
                        </m:e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#</m:t>
                          </m:r>
                          <m:r>
                            <a:rPr lang="en-US" sz="2000" b="1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#</m:t>
                          </m:r>
                        </m:e>
                      </m:eqArr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Score ∈ [0, 1]:</a:t>
                </a:r>
              </a:p>
              <a:p>
                <a:pPr marL="342900" indent="-342900" algn="just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≥ 0.70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itchFamily="2" charset="2"/>
                  </a:rPr>
                  <a:t>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Best Match</a:t>
                </a:r>
              </a:p>
              <a:p>
                <a:pPr marL="342900" indent="-342900" algn="just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0.40-0.69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itchFamily="2" charset="2"/>
                  </a:rPr>
                  <a:t>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Potential Match</a:t>
                </a:r>
              </a:p>
              <a:p>
                <a:pPr marL="342900" indent="-342900" algn="just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 0.40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itchFamily="2" charset="2"/>
                  </a:rPr>
                  <a:t>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Low relevance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A3514FB-C012-B46E-35D2-083A2CA0C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414" y="1653097"/>
                <a:ext cx="4265716" cy="3551806"/>
              </a:xfrm>
              <a:prstGeom prst="rect">
                <a:avLst/>
              </a:prstGeom>
              <a:blipFill>
                <a:blip r:embed="rId3"/>
                <a:stretch>
                  <a:fillRect l="-1187" r="-890" b="-2500"/>
                </a:stretch>
              </a:blipFill>
            </p:spPr>
            <p:txBody>
              <a:bodyPr/>
              <a:lstStyle/>
              <a:p>
                <a:r>
                  <a:rPr lang="en-NP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D4310156-5A89-C08A-FAD2-B8472D26112D}"/>
              </a:ext>
            </a:extLst>
          </p:cNvPr>
          <p:cNvSpPr txBox="1"/>
          <p:nvPr/>
        </p:nvSpPr>
        <p:spPr>
          <a:xfrm>
            <a:off x="250372" y="922181"/>
            <a:ext cx="65774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3.6 Similarity Calculation and Ensemble Scoring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AEA3641-1866-0535-F8B9-35CDB94BE289}"/>
                  </a:ext>
                </a:extLst>
              </p:cNvPr>
              <p:cNvSpPr txBox="1"/>
              <p:nvPr/>
            </p:nvSpPr>
            <p:spPr>
              <a:xfrm>
                <a:off x="5252852" y="1653097"/>
                <a:ext cx="6064331" cy="2806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Ensemble Scoring:</a:t>
                </a: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h𝑦𝑏𝑟𝑖𝑑</m:t>
                              </m:r>
                            </m:sub>
                          </m:sSub>
                          <m:r>
                            <a:rPr lang="en-US" sz="20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 0.60 × </m:t>
                          </m:r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𝑆𝐵𝐸𝑅𝑇</m:t>
                              </m:r>
                            </m:sub>
                          </m:sSub>
                          <m:r>
                            <a:rPr lang="en-US" sz="20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+ 0.40 ×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𝑊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sub>
                          </m:sSub>
                        </m:e>
                      </m:eqArr>
                      <m:r>
                        <a:rPr lang="en-US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(3.</m:t>
                      </m:r>
                      <m:r>
                        <a:rPr lang="en-US" sz="20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Score ∈ [0, 1]:</a:t>
                </a:r>
              </a:p>
              <a:p>
                <a:pPr marL="342900" indent="-342900" algn="just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≥ 0.70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itchFamily="2" charset="2"/>
                  </a:rPr>
                  <a:t>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Best Match</a:t>
                </a:r>
              </a:p>
              <a:p>
                <a:pPr marL="342900" indent="-342900" algn="just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0.40-0.69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itchFamily="2" charset="2"/>
                  </a:rPr>
                  <a:t>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Potential Match</a:t>
                </a:r>
              </a:p>
              <a:p>
                <a:pPr marL="342900" indent="-342900" algn="just">
                  <a:lnSpc>
                    <a:spcPct val="150000"/>
                  </a:lnSpc>
                  <a:buFont typeface="Wingdings" pitchFamily="2" charset="2"/>
                  <a:buChar char="Ø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&lt; 0.40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itchFamily="2" charset="2"/>
                  </a:rPr>
                  <a:t>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Low relevance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AEA3641-1866-0535-F8B9-35CDB94BE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2852" y="1653097"/>
                <a:ext cx="6064331" cy="2806666"/>
              </a:xfrm>
              <a:prstGeom prst="rect">
                <a:avLst/>
              </a:prstGeom>
              <a:blipFill>
                <a:blip r:embed="rId4"/>
                <a:stretch>
                  <a:fillRect l="-1046" b="-3153"/>
                </a:stretch>
              </a:blipFill>
            </p:spPr>
            <p:txBody>
              <a:bodyPr/>
              <a:lstStyle/>
              <a:p>
                <a:r>
                  <a:rPr lang="en-NP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1">
            <a:extLst>
              <a:ext uri="{FF2B5EF4-FFF2-40B4-BE49-F238E27FC236}">
                <a16:creationId xmlns:a16="http://schemas.microsoft.com/office/drawing/2014/main" id="{099D9AA6-E548-BA1C-F4AB-0FD3E82D9E4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503229" y="6351359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905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AD42021-672C-3718-DE18-29909E515415}"/>
              </a:ext>
            </a:extLst>
          </p:cNvPr>
          <p:cNvSpPr/>
          <p:nvPr/>
        </p:nvSpPr>
        <p:spPr>
          <a:xfrm>
            <a:off x="0" y="141515"/>
            <a:ext cx="12192000" cy="65314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NP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4: Result and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2459E1-50D5-076A-BF8A-EDFFF764DA8B}"/>
              </a:ext>
            </a:extLst>
          </p:cNvPr>
          <p:cNvSpPr txBox="1"/>
          <p:nvPr/>
        </p:nvSpPr>
        <p:spPr>
          <a:xfrm>
            <a:off x="250372" y="922181"/>
            <a:ext cx="29129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 Evaluation Setup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E8EEA0-86C2-D711-87C1-D79B2CFD4A0E}"/>
              </a:ext>
            </a:extLst>
          </p:cNvPr>
          <p:cNvSpPr txBox="1"/>
          <p:nvPr/>
        </p:nvSpPr>
        <p:spPr>
          <a:xfrm>
            <a:off x="525483" y="1647786"/>
            <a:ext cx="6181106" cy="14835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NP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Adversarial Test Query</a:t>
            </a:r>
          </a:p>
          <a:p>
            <a:pPr algn="just">
              <a:lnSpc>
                <a:spcPct val="150000"/>
              </a:lnSpc>
            </a:pPr>
            <a:r>
              <a:rPr lang="en-N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JD:</a:t>
            </a:r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“Django Backend Developer” – keyword “</a:t>
            </a:r>
            <a:r>
              <a:rPr lang="en-N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deliberately withheld. </a:t>
            </a:r>
          </a:p>
          <a:p>
            <a:pPr algn="just">
              <a:lnSpc>
                <a:spcPct val="150000"/>
              </a:lnSpc>
            </a:pPr>
            <a:r>
              <a:rPr lang="en-N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relied only on:</a:t>
            </a:r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Django, ORM, REST APIs, relational databases, caching, server-side logic.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3E8A31-247C-3621-3B53-D7AC1B747F4B}"/>
              </a:ext>
            </a:extLst>
          </p:cNvPr>
          <p:cNvSpPr txBox="1"/>
          <p:nvPr/>
        </p:nvSpPr>
        <p:spPr>
          <a:xfrm>
            <a:off x="525483" y="3450566"/>
            <a:ext cx="6181106" cy="14835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NP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 Truth (Binary Relevance Matrix R)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N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Relevant (1): </a:t>
            </a:r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Resumes classified as “Python Developer”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N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Irrelevant (0): </a:t>
            </a:r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other engineering domains</a:t>
            </a:r>
          </a:p>
          <a:p>
            <a:pPr>
              <a:lnSpc>
                <a:spcPct val="150000"/>
              </a:lnSpc>
            </a:pPr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pool: N = 1, 429; cutoff K = 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5FC1E55-24E2-B6DC-1FB6-FE12CD69D065}"/>
                  </a:ext>
                </a:extLst>
              </p:cNvPr>
              <p:cNvSpPr txBox="1"/>
              <p:nvPr/>
            </p:nvSpPr>
            <p:spPr>
              <a:xfrm>
                <a:off x="6994566" y="1840675"/>
                <a:ext cx="4671951" cy="217668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NP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Metrices Used</a:t>
                </a:r>
              </a:p>
              <a:p>
                <a:pPr marL="342900" indent="-342900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𝑃𝑟𝑒𝑐𝑖𝑠𝑖𝑜𝑛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@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p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𝑟𝑒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                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4.1</m:t>
                        </m:r>
                      </m:e>
                    </m:d>
                  </m:oMath>
                </a14:m>
                <a:endParaRPr 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itchFamily="2" charset="2"/>
                  <a:buChar char="Ø"/>
                </a:pPr>
                <a:endParaRPr lang="en-NP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𝑀𝑅𝑅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.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𝑟𝑒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                     (4.2)</m:t>
                    </m:r>
                  </m:oMath>
                </a14:m>
                <a:endParaRPr lang="en-NP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itchFamily="2" charset="2"/>
                  <a:buChar char="Ø"/>
                </a:pPr>
                <a14:m>
                  <m:oMath xmlns:m="http://schemas.openxmlformats.org/officeDocument/2006/math">
                    <m:eqArr>
                      <m:eqArr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eqArr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𝑁𝐷𝐶𝐺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@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𝐷𝐶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𝐼𝐷𝐶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𝐺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sub>
                            </m:sSub>
                          </m:den>
                        </m:f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                           #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4.3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 </m:t>
                        </m:r>
                      </m:e>
                    </m:eqArr>
                  </m:oMath>
                </a14:m>
                <a:endParaRPr lang="en-US" sz="20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5FC1E55-24E2-B6DC-1FB6-FE12CD69D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4566" y="1840675"/>
                <a:ext cx="4671951" cy="2176686"/>
              </a:xfrm>
              <a:prstGeom prst="rect">
                <a:avLst/>
              </a:prstGeom>
              <a:blipFill>
                <a:blip r:embed="rId3"/>
                <a:stretch>
                  <a:fillRect l="-1355" t="-1156" r="-2981"/>
                </a:stretch>
              </a:blipFill>
            </p:spPr>
            <p:txBody>
              <a:bodyPr/>
              <a:lstStyle/>
              <a:p>
                <a:r>
                  <a:rPr lang="en-NP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1">
            <a:extLst>
              <a:ext uri="{FF2B5EF4-FFF2-40B4-BE49-F238E27FC236}">
                <a16:creationId xmlns:a16="http://schemas.microsoft.com/office/drawing/2014/main" id="{872DBC01-C020-076E-2B49-6B8E863329B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503229" y="6351359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119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F48DB76-B036-4B8A-FFD5-502A0BBB8E62}"/>
              </a:ext>
            </a:extLst>
          </p:cNvPr>
          <p:cNvSpPr txBox="1"/>
          <p:nvPr/>
        </p:nvSpPr>
        <p:spPr>
          <a:xfrm>
            <a:off x="250372" y="922181"/>
            <a:ext cx="53447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4.2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Performance Comparison</a:t>
            </a:r>
            <a:endParaRPr lang="en-NP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D20EB8-5AC2-E786-4FE6-9EBE5AA38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600" y="1383846"/>
            <a:ext cx="6654800" cy="218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1D2538E-C6E2-8F81-9520-91BCBF25AC45}"/>
              </a:ext>
            </a:extLst>
          </p:cNvPr>
          <p:cNvSpPr txBox="1"/>
          <p:nvPr/>
        </p:nvSpPr>
        <p:spPr>
          <a:xfrm>
            <a:off x="1042060" y="4171950"/>
            <a:ext cx="3957452" cy="199137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N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Word2Vec Failure</a:t>
            </a:r>
          </a:p>
          <a:p>
            <a:pPr>
              <a:lnSpc>
                <a:spcPct val="150000"/>
              </a:lnSpc>
            </a:pPr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on N = 1, 429 introduces </a:t>
            </a:r>
            <a:r>
              <a:rPr lang="en-N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lexical</a:t>
            </a:r>
          </a:p>
          <a:p>
            <a:pPr>
              <a:lnSpc>
                <a:spcPct val="150000"/>
              </a:lnSpc>
            </a:pPr>
            <a:r>
              <a:rPr lang="en-N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sparsity</a:t>
            </a:r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Without anchor token “Python”,</a:t>
            </a:r>
          </a:p>
          <a:p>
            <a:pPr>
              <a:lnSpc>
                <a:spcPct val="150000"/>
              </a:lnSpc>
            </a:pPr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centroid dilution shifts the query vector to a</a:t>
            </a:r>
          </a:p>
          <a:p>
            <a:pPr>
              <a:lnSpc>
                <a:spcPct val="150000"/>
              </a:lnSpc>
            </a:pPr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 web-developer archetype → 9/10</a:t>
            </a:r>
          </a:p>
          <a:p>
            <a:pPr>
              <a:lnSpc>
                <a:spcPct val="150000"/>
              </a:lnSpc>
            </a:pPr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C7E641-A85E-5CDF-8329-7269D3D9573C}"/>
              </a:ext>
            </a:extLst>
          </p:cNvPr>
          <p:cNvSpPr txBox="1"/>
          <p:nvPr/>
        </p:nvSpPr>
        <p:spPr>
          <a:xfrm>
            <a:off x="6094021" y="4171949"/>
            <a:ext cx="4225635" cy="16694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NP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S-BERT &amp; Hybrid Success</a:t>
            </a:r>
          </a:p>
          <a:p>
            <a:pPr>
              <a:lnSpc>
                <a:spcPct val="150000"/>
              </a:lnSpc>
            </a:pPr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Multi-head self-attention maps “Django”,</a:t>
            </a:r>
          </a:p>
          <a:p>
            <a:pPr>
              <a:lnSpc>
                <a:spcPct val="150000"/>
              </a:lnSpc>
            </a:pPr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“ORM” to the Python Developer latent profile </a:t>
            </a:r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1 true positive, 7/10 correct, NDCG</a:t>
            </a:r>
          </a:p>
          <a:p>
            <a:pPr>
              <a:lnSpc>
                <a:spcPct val="150000"/>
              </a:lnSpc>
            </a:pPr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= 79.36% (+0.19% over SBERT alone).</a:t>
            </a:r>
          </a:p>
        </p:txBody>
      </p:sp>
      <p:sp>
        <p:nvSpPr>
          <p:cNvPr id="2" name="Slide Number Placeholder 11">
            <a:extLst>
              <a:ext uri="{FF2B5EF4-FFF2-40B4-BE49-F238E27FC236}">
                <a16:creationId xmlns:a16="http://schemas.microsoft.com/office/drawing/2014/main" id="{203EBDA2-5795-5C25-43A8-6925B8A6A35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503229" y="6351359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899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631AA63-CD34-1299-8A29-DC20D8B3B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737" y="1383846"/>
            <a:ext cx="9658526" cy="40232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BEC8B3-FF20-8145-6A74-3EB104AE7B18}"/>
              </a:ext>
            </a:extLst>
          </p:cNvPr>
          <p:cNvSpPr txBox="1"/>
          <p:nvPr/>
        </p:nvSpPr>
        <p:spPr>
          <a:xfrm>
            <a:off x="250372" y="922181"/>
            <a:ext cx="45945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4.3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Scores Comparison</a:t>
            </a:r>
            <a:endParaRPr lang="en-NP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19F600-6F88-884A-A87C-E942C1E13A0D}"/>
              </a:ext>
            </a:extLst>
          </p:cNvPr>
          <p:cNvSpPr txBox="1"/>
          <p:nvPr/>
        </p:nvSpPr>
        <p:spPr>
          <a:xfrm>
            <a:off x="4788776" y="5407066"/>
            <a:ext cx="26564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4.1: Similarity Comparison</a:t>
            </a:r>
          </a:p>
        </p:txBody>
      </p:sp>
      <p:sp>
        <p:nvSpPr>
          <p:cNvPr id="2" name="Slide Number Placeholder 11">
            <a:extLst>
              <a:ext uri="{FF2B5EF4-FFF2-40B4-BE49-F238E27FC236}">
                <a16:creationId xmlns:a16="http://schemas.microsoft.com/office/drawing/2014/main" id="{09C2BE75-47A9-BFC7-D5FC-D169AF30A98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503229" y="6351359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258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1E22C5C-70EE-15C4-06AA-A4D0DAE1C888}"/>
              </a:ext>
            </a:extLst>
          </p:cNvPr>
          <p:cNvSpPr txBox="1"/>
          <p:nvPr/>
        </p:nvSpPr>
        <p:spPr>
          <a:xfrm>
            <a:off x="262247" y="922181"/>
            <a:ext cx="54072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4.4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Analysis &amp; Interpretation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AFB973-48C5-1983-3036-DD5A53A52677}"/>
              </a:ext>
            </a:extLst>
          </p:cNvPr>
          <p:cNvSpPr txBox="1"/>
          <p:nvPr/>
        </p:nvSpPr>
        <p:spPr>
          <a:xfrm>
            <a:off x="5747657" y="1068779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N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NP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48EAC8-AB56-D675-E03B-697FA01D3676}"/>
              </a:ext>
            </a:extLst>
          </p:cNvPr>
          <p:cNvSpPr txBox="1"/>
          <p:nvPr/>
        </p:nvSpPr>
        <p:spPr>
          <a:xfrm>
            <a:off x="662050" y="1970107"/>
            <a:ext cx="6097978" cy="2345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NP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Hybrid is better:</a:t>
            </a:r>
          </a:p>
          <a:p>
            <a:pPr lvl="1">
              <a:lnSpc>
                <a:spcPct val="150000"/>
              </a:lnSpc>
            </a:pPr>
            <a:r>
              <a:rPr lang="en-N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SBERT suppresses </a:t>
            </a:r>
            <a:r>
              <a:rPr lang="en-NP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drift, </a:t>
            </a:r>
            <a:r>
              <a:rPr lang="en-N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Word2Vec anchors exact acronyms and version strings typed by domain specialists.</a:t>
            </a:r>
          </a:p>
          <a:p>
            <a:pPr lvl="1">
              <a:lnSpc>
                <a:spcPct val="150000"/>
              </a:lnSpc>
            </a:pPr>
            <a:r>
              <a:rPr lang="en-NP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Together: </a:t>
            </a:r>
            <a:r>
              <a:rPr lang="en-N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robust, error-correcting search pipeline.</a:t>
            </a:r>
          </a:p>
        </p:txBody>
      </p:sp>
      <p:sp>
        <p:nvSpPr>
          <p:cNvPr id="2" name="Slide Number Placeholder 11">
            <a:extLst>
              <a:ext uri="{FF2B5EF4-FFF2-40B4-BE49-F238E27FC236}">
                <a16:creationId xmlns:a16="http://schemas.microsoft.com/office/drawing/2014/main" id="{77A18E99-1B79-29A4-734A-9343A11B647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503229" y="6351359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8494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5702EFD-C918-05D0-BC3A-07C59CE199CA}"/>
              </a:ext>
            </a:extLst>
          </p:cNvPr>
          <p:cNvSpPr/>
          <p:nvPr/>
        </p:nvSpPr>
        <p:spPr>
          <a:xfrm>
            <a:off x="0" y="141515"/>
            <a:ext cx="12192000" cy="65314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NP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5: Conclusion and Future Work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F36BD5-783F-2990-242C-6FE861D91E51}"/>
              </a:ext>
            </a:extLst>
          </p:cNvPr>
          <p:cNvSpPr txBox="1"/>
          <p:nvPr/>
        </p:nvSpPr>
        <p:spPr>
          <a:xfrm>
            <a:off x="333499" y="1100311"/>
            <a:ext cx="16562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DCCD08-9D58-ADD0-7FB8-C749443160A5}"/>
              </a:ext>
            </a:extLst>
          </p:cNvPr>
          <p:cNvSpPr txBox="1"/>
          <p:nvPr/>
        </p:nvSpPr>
        <p:spPr>
          <a:xfrm>
            <a:off x="333499" y="1689501"/>
            <a:ext cx="5627914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a hybrid resume ranking system over 1,429 resumes across 23 domains.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Evaluated semantic matching using an adversarial test that withheld the keyword "Python".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b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Standalone S-BERT achieved a resilient 70.00% Precision@10 and 100.00% MRR.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Word2Vec suffered from lexical sparsity, achieving only 10.00% Precision@10.</a:t>
            </a:r>
            <a:endParaRPr lang="en-US" sz="2000" b="0" u="none" strike="noStrike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Combining contextual and lexical models creates a more reliable ranking system.</a:t>
            </a:r>
            <a:endParaRPr lang="en-NP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CD04B5-3EAC-140E-A184-ECE3C5A68C7E}"/>
              </a:ext>
            </a:extLst>
          </p:cNvPr>
          <p:cNvSpPr txBox="1"/>
          <p:nvPr/>
        </p:nvSpPr>
        <p:spPr>
          <a:xfrm>
            <a:off x="6096000" y="1100311"/>
            <a:ext cx="19367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P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697639-01E2-8363-7B64-FF69BC46AF11}"/>
              </a:ext>
            </a:extLst>
          </p:cNvPr>
          <p:cNvSpPr txBox="1"/>
          <p:nvPr/>
        </p:nvSpPr>
        <p:spPr>
          <a:xfrm>
            <a:off x="6096000" y="1689501"/>
            <a:ext cx="4828463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b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Incorporate TF-IDF as a third ranking signal to catch rare acronyms.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performance gains generalize rather than reflect one favorable test case.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Explore FAISS nearest-neighbor indexing to preserve low query latency.</a:t>
            </a:r>
          </a:p>
          <a:p>
            <a:pPr marL="342900" indent="-342900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b="0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an HR feedback mechanism for continuous model refinement.</a:t>
            </a:r>
            <a:endParaRPr lang="en-NP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1">
            <a:extLst>
              <a:ext uri="{FF2B5EF4-FFF2-40B4-BE49-F238E27FC236}">
                <a16:creationId xmlns:a16="http://schemas.microsoft.com/office/drawing/2014/main" id="{F1796926-673C-3E89-061E-3BEB7589665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503229" y="6351359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7138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FC83636-859A-8002-0591-160B2E35D457}"/>
              </a:ext>
            </a:extLst>
          </p:cNvPr>
          <p:cNvSpPr txBox="1"/>
          <p:nvPr/>
        </p:nvSpPr>
        <p:spPr>
          <a:xfrm>
            <a:off x="4445547" y="2998113"/>
            <a:ext cx="330090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NP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2" name="Slide Number Placeholder 11">
            <a:extLst>
              <a:ext uri="{FF2B5EF4-FFF2-40B4-BE49-F238E27FC236}">
                <a16:creationId xmlns:a16="http://schemas.microsoft.com/office/drawing/2014/main" id="{AD665E28-D553-0521-1C7C-F3BC281F1E5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503229" y="6351359"/>
            <a:ext cx="21336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575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</TotalTime>
  <Words>1193</Words>
  <Application>Microsoft Macintosh PowerPoint</Application>
  <PresentationFormat>Widescreen</PresentationFormat>
  <Paragraphs>174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Times New Roman</vt:lpstr>
      <vt:lpstr>Calibri</vt:lpstr>
      <vt:lpstr>Cambria Math</vt:lpstr>
      <vt:lpstr>Wingdings</vt:lpstr>
      <vt:lpstr>Courier New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prabin rimal</cp:lastModifiedBy>
  <cp:revision>41</cp:revision>
  <dcterms:modified xsi:type="dcterms:W3CDTF">2026-08-12T03:57:06Z</dcterms:modified>
</cp:coreProperties>
</file>